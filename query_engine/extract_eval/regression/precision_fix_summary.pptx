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FB6D4"/>
                </a:solidFill>
                <a:latin typeface="Calibri"/>
              </a:rPr>
              <a:t>AISECURECHAIN · EXTRACTION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 Was Precision So Low?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A44"/>
                </a:solidFill>
                <a:latin typeface="Calibri"/>
              </a:rPr>
              <a:t>Benchmark: 22 frozen web pages, oracle-labeled gold set, entity-level scoring.  Baseline: </a:t>
            </a:r>
            <a:r>
              <a:rPr sz="1400" b="1">
                <a:solidFill>
                  <a:srgbClr val="1E8449"/>
                </a:solidFill>
                <a:latin typeface="Calibri"/>
              </a:rPr>
              <a:t>Recall 0.84</a:t>
            </a:r>
            <a:r>
              <a:rPr sz="1400" b="0">
                <a:solidFill>
                  <a:srgbClr val="1F2A44"/>
                </a:solidFill>
                <a:latin typeface="Calibri"/>
              </a:rPr>
              <a:t>  but  </a:t>
            </a:r>
            <a:r>
              <a:rPr sz="1400" b="1">
                <a:solidFill>
                  <a:srgbClr val="C0392B"/>
                </a:solidFill>
                <a:latin typeface="Calibri"/>
              </a:rPr>
              <a:t>Precision 0.38</a:t>
            </a:r>
            <a:r>
              <a:rPr sz="1400" b="0">
                <a:solidFill>
                  <a:srgbClr val="1F2A44"/>
                </a:solidFill>
                <a:latin typeface="Calibri"/>
              </a:rPr>
              <a:t>  — 122 false positives.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A5A5A"/>
                </a:solidFill>
                <a:latin typeface="Calibri"/>
              </a:rPr>
              <a:t>Root cause: the prompt was recall-oriented (“emit every entity mentioned”) with no relevance filtering; per-chunk extraction accumulates noise.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3630168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64008" cy="1965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240280"/>
            <a:ext cx="3264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1. Generic categories as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587752"/>
            <a:ext cx="3264408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alibri"/>
              </a:rPr>
              <a:t>“Generative AI”, “Chatbots”, “AI Systems” extracted as Software entities.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Software P = 0.25 — 41 FPs, worst class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2148840"/>
            <a:ext cx="3630168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2148840"/>
            <a:ext cx="64008" cy="1965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240280"/>
            <a:ext cx="3264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2. Irrelevant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87752"/>
            <a:ext cx="3264408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alibri"/>
              </a:rPr>
              <a:t>Defense products mentioned as mitigation (EDR, CASB, vendor's own platform); historical analogies (SolarWinds).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Mentioned ≠ involved in the vulnerability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7304" y="2148840"/>
            <a:ext cx="3630168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2148840"/>
            <a:ext cx="64008" cy="1965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2240280"/>
            <a:ext cx="3264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3. CVSS table labels as entities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587752"/>
            <a:ext cx="3264408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alibri"/>
              </a:rPr>
              <a:t>Score-table headers — “Attack Vector”, “Attack Complexity”, “Confidentiality” — extracted as Attack / Impact.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Systematic on NVD / GHSA advisory pages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343400"/>
            <a:ext cx="3630168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343400"/>
            <a:ext cx="64008" cy="1965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434840"/>
            <a:ext cx="3264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4. Concept confusion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782312"/>
            <a:ext cx="3264408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alibri"/>
              </a:rPr>
              <a:t>Defensive benefits (“Threat Detection”, “Reduced Response Costs”) labeled as Impact; outcomes (RCE, exfiltration) labeled as Attack.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Impact P = 0.30,  Attack P = 0.42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5112" y="4343400"/>
            <a:ext cx="3630168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5112" y="4343400"/>
            <a:ext cx="64008" cy="1965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434840"/>
            <a:ext cx="3264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5. Duplicate minted 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782312"/>
            <a:ext cx="3264408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alibri"/>
              </a:rPr>
              <a:t>A single-CVE article yielded 4 extra internal AISC-* vulnerability IDs — a dedup bug: minted IDs bypassed duplicate collapsing.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Fragments one finding into many records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7304" y="4343400"/>
            <a:ext cx="3630168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47304" y="4343400"/>
            <a:ext cx="64008" cy="19659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2" y="4434840"/>
            <a:ext cx="3264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Calibri"/>
              </a:rPr>
              <a:t>Where it hurts most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782312"/>
            <a:ext cx="3264408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alibri"/>
              </a:rPr>
              <a:t>Concrete CVE advisories score fine (≈ 0.9 F1); conceptual / listicle blog pages collapse to 0.08–0.15 precision.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Noise concentrates on vague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FB6D4"/>
                </a:solidFill>
                <a:latin typeface="Calibri"/>
              </a:rPr>
              <a:t>AISECURECHAIN · EXTRACTION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What We Changed — Four Levers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532120" cy="2084831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64008" cy="2084831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17320"/>
            <a:ext cx="51663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Calibri"/>
              </a:rPr>
              <a:t>1. Relevance gating  (prompt)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764792"/>
            <a:ext cx="5166359" cy="1536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Only extract entities that participate in the security story: </a:t>
            </a:r>
            <a:r>
              <a:rPr sz="1200" b="1">
                <a:solidFill>
                  <a:srgbClr val="2E74B5"/>
                </a:solidFill>
                <a:latin typeface="Calibri"/>
              </a:rPr>
              <a:t>Attack → exploits → Vulnerability → resultsIn → Impact</a:t>
            </a:r>
            <a:r>
              <a:rPr sz="1200" b="0">
                <a:solidFill>
                  <a:srgbClr val="1F2A44"/>
                </a:solidFill>
                <a:latin typeface="Calibri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Software must be the affected system or an attacker tool — not navigation, examples, marketing, or analogies.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Advisory pages vs. think-pieces get different rules: extract all stated impacts from a CVE description; only the 1–3 central ones from a listicle.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532120" cy="2084831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64008" cy="2084831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417320"/>
            <a:ext cx="51663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Calibri"/>
              </a:rPr>
              <a:t>2. Classify-then-filter  (role attribute)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764792"/>
            <a:ext cx="5166359" cy="1536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Each Software gets a </a:t>
            </a:r>
            <a:r>
              <a:rPr sz="1200" b="1">
                <a:solidFill>
                  <a:srgbClr val="2E74B5"/>
                </a:solidFill>
                <a:latin typeface="Calibri"/>
              </a:rPr>
              <a:t>role</a:t>
            </a:r>
            <a:r>
              <a:rPr sz="1200" b="0">
                <a:solidFill>
                  <a:srgbClr val="1F2A44"/>
                </a:solidFill>
                <a:latin typeface="Calibri"/>
              </a:rPr>
              <a:t>: affected · tool · defense · mentioned.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The LLM finds omission hard but classification easy — let it emit, then deterministically drop defense / mentioned.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Plus deterministic deny-lists: generic categories, CVSS labels, purely descriptive names (“Enterprise RAG System”).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39311"/>
            <a:ext cx="5532120" cy="2084831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639311"/>
            <a:ext cx="64008" cy="2084831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730751"/>
            <a:ext cx="51663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Calibri"/>
              </a:rPr>
              <a:t>3. Normalize to standard vocabulary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078223"/>
            <a:ext cx="5166359" cy="1536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Attack / Impact names normalize to a canonical vocabulary (“Prompt Injection”, “Data Exfiltration”, …) — fixes synonym mismatches and merge fragmentation.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Lesson (Goodhart): </a:t>
            </a:r>
            <a:r>
              <a:rPr sz="1200" b="0">
                <a:solidFill>
                  <a:srgbClr val="1F2A44"/>
                </a:solidFill>
                <a:latin typeface="Calibri"/>
              </a:rPr>
              <a:t>v1 over-normalized — everything became “Unauthorized Access”. Fix: “use the MOST SPECIFIC name; generic only as last resort”.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639311"/>
            <a:ext cx="5532120" cy="2084831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639311"/>
            <a:ext cx="64008" cy="2084831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3730751"/>
            <a:ext cx="51663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Calibri"/>
              </a:rPr>
              <a:t>4. Relation-based filtering + dedup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4078223"/>
            <a:ext cx="5166359" cy="1536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Attack needs an exploits edge, Impact a resultsIn edge; unlinked non-standard entities are dropped.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Fixed validator bug: minted AISC-* IDs no longer bypass duplicate collapsing; internal IDs are dropped when an official CVE / GHSA covers the finding.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80176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5A5A5A"/>
                </a:solidFill>
                <a:latin typeface="Calibri"/>
              </a:rPr>
              <a:t>Method: </a:t>
            </a:r>
            <a:r>
              <a:rPr sz="1250" b="0">
                <a:solidFill>
                  <a:srgbClr val="5A5A5A"/>
                </a:solidFill>
                <a:latin typeface="Calibri"/>
              </a:rPr>
              <a:t>3 iterations, each validated against the benchmark (edit → run 22 docs → inspect every FP / miss → refine).  </a:t>
            </a:r>
            <a:r>
              <a:rPr sz="1250" b="1">
                <a:solidFill>
                  <a:srgbClr val="5A5A5A"/>
                </a:solidFill>
                <a:latin typeface="Calibri"/>
              </a:rPr>
              <a:t>Changed: </a:t>
            </a:r>
            <a:r>
              <a:rPr sz="1250" b="0">
                <a:solidFill>
                  <a:srgbClr val="5A5A5A"/>
                </a:solidFill>
                <a:latin typeface="Calibri"/>
              </a:rPr>
              <a:t>ontology hints · extraction prompt · new deterministic filter stage · validator dedup.  All 87 unit tests pass.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FB6D4"/>
                </a:solidFill>
                <a:latin typeface="Calibri"/>
              </a:rPr>
              <a:t>AISECURECHAIN · EXTRACTION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Results — Precision Nearly Doubled, Recall Intact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3112" cy="9601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0.38  </a:t>
            </a:r>
            <a:r>
              <a:rPr sz="2600" b="1">
                <a:solidFill>
                  <a:srgbClr val="1E8449"/>
                </a:solidFill>
                <a:latin typeface="Calibri"/>
              </a:rPr>
              <a:t>→  0.72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3716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609344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0.84  </a:t>
            </a:r>
            <a:r>
              <a:rPr sz="2600" b="1">
                <a:solidFill>
                  <a:srgbClr val="1E8449"/>
                </a:solidFill>
                <a:latin typeface="Calibri"/>
              </a:rPr>
              <a:t>→  0.88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3716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9344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0.52  </a:t>
            </a:r>
            <a:r>
              <a:rPr sz="2600" b="1">
                <a:solidFill>
                  <a:srgbClr val="1E8449"/>
                </a:solidFill>
                <a:latin typeface="Calibri"/>
              </a:rPr>
              <a:t>→  0.79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59" y="13716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FALSE POSITIVES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59" y="1609344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122  </a:t>
            </a:r>
            <a:r>
              <a:rPr sz="2600" b="1">
                <a:solidFill>
                  <a:srgbClr val="1E8449"/>
                </a:solidFill>
                <a:latin typeface="Calibri"/>
              </a:rPr>
              <a:t>→  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14600"/>
            <a:ext cx="10927080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64892"/>
            <a:ext cx="19202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564892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 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564892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 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564892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 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564892"/>
            <a:ext cx="493776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898648"/>
            <a:ext cx="10927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48940"/>
            <a:ext cx="19202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Vulnerability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948940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0.74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2948940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8449"/>
                </a:solidFill>
                <a:latin typeface="Calibri"/>
              </a:rPr>
              <a:t>1.00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948940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0.78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948940"/>
            <a:ext cx="493776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extra minted IDs eliminated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282696"/>
            <a:ext cx="10927080" cy="38404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332988"/>
            <a:ext cx="19202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Vendor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332988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0.62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3332988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8449"/>
                </a:solidFill>
                <a:latin typeface="Calibri"/>
              </a:rPr>
              <a:t>0.89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332988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1.00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332988"/>
            <a:ext cx="493776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threat actors no longer vendors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666744"/>
            <a:ext cx="10927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717035"/>
            <a:ext cx="19202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Software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3717035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0.25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3717035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8449"/>
                </a:solidFill>
                <a:latin typeface="Calibri"/>
              </a:rPr>
              <a:t>0.82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717035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1.00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717035"/>
            <a:ext cx="493776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generic / irrelevant products removed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050791"/>
            <a:ext cx="10927080" cy="38404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101083"/>
            <a:ext cx="19202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Attack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4101083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0.42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4760" y="4101083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8449"/>
                </a:solidFill>
                <a:latin typeface="Calibri"/>
              </a:rPr>
              <a:t>0.91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101083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0.83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101083"/>
            <a:ext cx="493776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CVSS labels &amp; outcome confusion fixed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434840"/>
            <a:ext cx="10927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485131"/>
            <a:ext cx="19202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Impact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4485131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0.30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4760" y="4485131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8449"/>
                </a:solidFill>
                <a:latin typeface="Calibri"/>
              </a:rPr>
              <a:t>0.47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4485131"/>
            <a:ext cx="12344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0.88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4485131"/>
            <a:ext cx="493776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remaining floor — see next steps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093207"/>
            <a:ext cx="5486400" cy="14173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" y="5093207"/>
            <a:ext cx="64008" cy="14173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" y="5184647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Calibri"/>
              </a:rPr>
              <a:t>Iteration trajectory (headline P)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" y="5532119"/>
            <a:ext cx="5120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0.38</a:t>
            </a:r>
            <a:r>
              <a:rPr sz="1200" b="0">
                <a:solidFill>
                  <a:srgbClr val="1F2A44"/>
                </a:solidFill>
                <a:latin typeface="Calibri"/>
              </a:rPr>
              <a:t>  →  0.58  →  0.58 (R↑0.90)  →  </a:t>
            </a:r>
            <a:r>
              <a:rPr sz="1200" b="1">
                <a:solidFill>
                  <a:srgbClr val="1E8449"/>
                </a:solidFill>
                <a:latin typeface="Calibri"/>
              </a:rPr>
              <a:t>0.72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Three CVE advisory pages now score a perfect 1.0 / 1.0.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Calibri"/>
              </a:rPr>
              <a:t>GPT-4o, temperature 0; compare deltas, not absolutes.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093207"/>
            <a:ext cx="5486400" cy="14173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5093207"/>
            <a:ext cx="64008" cy="141732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19088" y="5184647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A5A5A"/>
                </a:solidFill>
                <a:latin typeface="Calibri"/>
              </a:rPr>
              <a:t>Next steps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19088" y="5532119"/>
            <a:ext cx="5120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Impact (P 0.47): most remaining FPs are gold-label coverage gaps (missing acceptable items / aliases) → audit gold set first.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A44"/>
                </a:solidFill>
                <a:latin typeface="Calibri"/>
              </a:rPr>
              <a:t>Multi-incident roundup pages still under-recall (0.33).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